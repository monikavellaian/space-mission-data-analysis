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64191" y="3845895"/>
            <a:ext cx="21984" cy="21984"/>
          </a:xfrm>
          <a:prstGeom prst="ellipse">
            <a:avLst/>
          </a:prstGeom>
          <a:solidFill>
            <a:srgbClr val="FFFFFF">
              <a:alpha val="44488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158386" y="538750"/>
            <a:ext cx="46415" cy="46415"/>
          </a:xfrm>
          <a:prstGeom prst="ellipse">
            <a:avLst/>
          </a:prstGeom>
          <a:solidFill>
            <a:srgbClr val="FFFFFF">
              <a:alpha val="45621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59214" y="5357842"/>
            <a:ext cx="39329" cy="39329"/>
          </a:xfrm>
          <a:prstGeom prst="ellipse">
            <a:avLst/>
          </a:prstGeom>
          <a:solidFill>
            <a:srgbClr val="FFFFFF">
              <a:alpha val="42551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58906" y="4608336"/>
            <a:ext cx="23344" cy="23344"/>
          </a:xfrm>
          <a:prstGeom prst="ellipse">
            <a:avLst/>
          </a:prstGeom>
          <a:solidFill>
            <a:srgbClr val="FFFFFF">
              <a:alpha val="4294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142863" y="343400"/>
            <a:ext cx="48344" cy="48344"/>
          </a:xfrm>
          <a:prstGeom prst="ellipse">
            <a:avLst/>
          </a:prstGeom>
          <a:solidFill>
            <a:srgbClr val="FFB627">
              <a:alpha val="55773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02461" y="6554200"/>
            <a:ext cx="24341" cy="24341"/>
          </a:xfrm>
          <a:prstGeom prst="ellipse">
            <a:avLst/>
          </a:prstGeom>
          <a:solidFill>
            <a:srgbClr val="FFFFFF">
              <a:alpha val="40739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170969" y="1925902"/>
            <a:ext cx="23741" cy="23741"/>
          </a:xfrm>
          <a:prstGeom prst="ellipse">
            <a:avLst/>
          </a:prstGeom>
          <a:solidFill>
            <a:srgbClr val="FFB627">
              <a:alpha val="44402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828669" y="3751674"/>
            <a:ext cx="28862" cy="28862"/>
          </a:xfrm>
          <a:prstGeom prst="ellipse">
            <a:avLst/>
          </a:prstGeom>
          <a:solidFill>
            <a:srgbClr val="FFFFFF">
              <a:alpha val="32951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277177" y="2400682"/>
            <a:ext cx="20837" cy="20837"/>
          </a:xfrm>
          <a:prstGeom prst="ellipse">
            <a:avLst/>
          </a:prstGeom>
          <a:solidFill>
            <a:srgbClr val="FFB627">
              <a:alpha val="51647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752321" y="3228093"/>
            <a:ext cx="25842" cy="25842"/>
          </a:xfrm>
          <a:prstGeom prst="ellipse">
            <a:avLst/>
          </a:prstGeom>
          <a:solidFill>
            <a:srgbClr val="FFFFFF">
              <a:alpha val="45939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29263" y="4477073"/>
            <a:ext cx="22641" cy="22641"/>
          </a:xfrm>
          <a:prstGeom prst="ellipse">
            <a:avLst/>
          </a:prstGeom>
          <a:solidFill>
            <a:srgbClr val="FFFFFF">
              <a:alpha val="44237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96820" y="326790"/>
            <a:ext cx="31482" cy="31482"/>
          </a:xfrm>
          <a:prstGeom prst="ellipse">
            <a:avLst/>
          </a:prstGeom>
          <a:solidFill>
            <a:srgbClr val="FFFFFF">
              <a:alpha val="37359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616420" y="2228409"/>
            <a:ext cx="32314" cy="32314"/>
          </a:xfrm>
          <a:prstGeom prst="ellipse">
            <a:avLst/>
          </a:prstGeom>
          <a:solidFill>
            <a:srgbClr val="FFFFFF">
              <a:alpha val="44641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196586" y="3091098"/>
            <a:ext cx="32348" cy="32348"/>
          </a:xfrm>
          <a:prstGeom prst="ellipse">
            <a:avLst/>
          </a:prstGeom>
          <a:solidFill>
            <a:srgbClr val="FFFFFF">
              <a:alpha val="5171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036372" y="904022"/>
            <a:ext cx="26940" cy="26940"/>
          </a:xfrm>
          <a:prstGeom prst="ellipse">
            <a:avLst/>
          </a:prstGeom>
          <a:solidFill>
            <a:srgbClr val="FFFFFF">
              <a:alpha val="29957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76728" y="6356350"/>
            <a:ext cx="45824" cy="45824"/>
          </a:xfrm>
          <a:prstGeom prst="ellipse">
            <a:avLst/>
          </a:prstGeom>
          <a:solidFill>
            <a:srgbClr val="FFFFFF">
              <a:alpha val="3759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744097" y="165247"/>
            <a:ext cx="28646" cy="28646"/>
          </a:xfrm>
          <a:prstGeom prst="ellipse">
            <a:avLst/>
          </a:prstGeom>
          <a:solidFill>
            <a:srgbClr val="FFFFFF">
              <a:alpha val="52469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786253" y="4703880"/>
            <a:ext cx="41883" cy="41883"/>
          </a:xfrm>
          <a:prstGeom prst="ellipse">
            <a:avLst/>
          </a:prstGeom>
          <a:solidFill>
            <a:srgbClr val="FFFFFF">
              <a:alpha val="26525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5185" y="2467416"/>
            <a:ext cx="37035" cy="37035"/>
          </a:xfrm>
          <a:prstGeom prst="ellipse">
            <a:avLst/>
          </a:prstGeom>
          <a:solidFill>
            <a:srgbClr val="FFFFFF">
              <a:alpha val="5687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2046776" y="3129021"/>
            <a:ext cx="46205" cy="46205"/>
          </a:xfrm>
          <a:prstGeom prst="ellipse">
            <a:avLst/>
          </a:prstGeom>
          <a:solidFill>
            <a:srgbClr val="FFFFFF">
              <a:alpha val="43582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21441" y="5439863"/>
            <a:ext cx="46972" cy="46972"/>
          </a:xfrm>
          <a:prstGeom prst="ellipse">
            <a:avLst/>
          </a:prstGeom>
          <a:solidFill>
            <a:srgbClr val="FFFFFF">
              <a:alpha val="5914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78290" y="4849107"/>
            <a:ext cx="40618" cy="40618"/>
          </a:xfrm>
          <a:prstGeom prst="ellipse">
            <a:avLst/>
          </a:prstGeom>
          <a:solidFill>
            <a:srgbClr val="FFFFFF">
              <a:alpha val="29564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95043" y="5695921"/>
            <a:ext cx="23686" cy="23686"/>
          </a:xfrm>
          <a:prstGeom prst="ellipse">
            <a:avLst/>
          </a:prstGeom>
          <a:solidFill>
            <a:srgbClr val="FFFFFF">
              <a:alpha val="57137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5398" y="3683470"/>
            <a:ext cx="44875" cy="44875"/>
          </a:xfrm>
          <a:prstGeom prst="ellipse">
            <a:avLst/>
          </a:prstGeom>
          <a:solidFill>
            <a:srgbClr val="FFFFFF">
              <a:alpha val="54904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007983" y="356923"/>
            <a:ext cx="27235" cy="27235"/>
          </a:xfrm>
          <a:prstGeom prst="ellipse">
            <a:avLst/>
          </a:prstGeom>
          <a:solidFill>
            <a:srgbClr val="FFFFFF">
              <a:alpha val="57757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325399" y="1579445"/>
            <a:ext cx="27763" cy="27763"/>
          </a:xfrm>
          <a:prstGeom prst="ellipse">
            <a:avLst/>
          </a:prstGeom>
          <a:solidFill>
            <a:srgbClr val="FFFFFF">
              <a:alpha val="55217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001584" y="6203"/>
            <a:ext cx="38259" cy="38259"/>
          </a:xfrm>
          <a:prstGeom prst="ellipse">
            <a:avLst/>
          </a:prstGeom>
          <a:solidFill>
            <a:srgbClr val="FFFFFF">
              <a:alpha val="45881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26204" y="3278364"/>
            <a:ext cx="31559" cy="31559"/>
          </a:xfrm>
          <a:prstGeom prst="ellipse">
            <a:avLst/>
          </a:prstGeom>
          <a:solidFill>
            <a:srgbClr val="FFFFFF">
              <a:alpha val="3353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489784" y="5067094"/>
            <a:ext cx="29098" cy="29098"/>
          </a:xfrm>
          <a:prstGeom prst="ellipse">
            <a:avLst/>
          </a:prstGeom>
          <a:solidFill>
            <a:srgbClr val="FFB627">
              <a:alpha val="3490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773457" y="1837561"/>
            <a:ext cx="29791" cy="29791"/>
          </a:xfrm>
          <a:prstGeom prst="ellipse">
            <a:avLst/>
          </a:prstGeom>
          <a:solidFill>
            <a:srgbClr val="FFFFFF">
              <a:alpha val="29162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07934" y="468930"/>
            <a:ext cx="24251" cy="24251"/>
          </a:xfrm>
          <a:prstGeom prst="ellipse">
            <a:avLst/>
          </a:prstGeom>
          <a:solidFill>
            <a:srgbClr val="FFFFFF">
              <a:alpha val="58967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301656" y="3014369"/>
            <a:ext cx="30360" cy="30360"/>
          </a:xfrm>
          <a:prstGeom prst="ellipse">
            <a:avLst/>
          </a:prstGeom>
          <a:solidFill>
            <a:srgbClr val="FFFFFF">
              <a:alpha val="28288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22959" y="2891043"/>
            <a:ext cx="22137" cy="22137"/>
          </a:xfrm>
          <a:prstGeom prst="ellipse">
            <a:avLst/>
          </a:prstGeom>
          <a:solidFill>
            <a:srgbClr val="FFB627">
              <a:alpha val="3683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066632" y="6216121"/>
            <a:ext cx="39984" cy="39984"/>
          </a:xfrm>
          <a:prstGeom prst="ellipse">
            <a:avLst/>
          </a:prstGeom>
          <a:solidFill>
            <a:srgbClr val="FFFFFF">
              <a:alpha val="26153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774477" y="2850768"/>
            <a:ext cx="34214" cy="34214"/>
          </a:xfrm>
          <a:prstGeom prst="ellipse">
            <a:avLst/>
          </a:prstGeom>
          <a:solidFill>
            <a:srgbClr val="FFFFFF">
              <a:alpha val="32444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125069" y="3738151"/>
            <a:ext cx="49970" cy="49970"/>
          </a:xfrm>
          <a:prstGeom prst="ellipse">
            <a:avLst/>
          </a:prstGeom>
          <a:solidFill>
            <a:srgbClr val="FFFFFF">
              <a:alpha val="30967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354238" y="517437"/>
            <a:ext cx="49419" cy="49419"/>
          </a:xfrm>
          <a:prstGeom prst="ellipse">
            <a:avLst/>
          </a:prstGeom>
          <a:solidFill>
            <a:srgbClr val="FFFFFF">
              <a:alpha val="37169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760186" y="5147792"/>
            <a:ext cx="43329" cy="43329"/>
          </a:xfrm>
          <a:prstGeom prst="ellipse">
            <a:avLst/>
          </a:prstGeom>
          <a:solidFill>
            <a:srgbClr val="FFFFFF">
              <a:alpha val="4446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731728" y="4950384"/>
            <a:ext cx="19944" cy="19944"/>
          </a:xfrm>
          <a:prstGeom prst="ellipse">
            <a:avLst/>
          </a:prstGeom>
          <a:solidFill>
            <a:srgbClr val="FFFFFF">
              <a:alpha val="43658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2045733" y="4518378"/>
            <a:ext cx="23220" cy="23220"/>
          </a:xfrm>
          <a:prstGeom prst="ellipse">
            <a:avLst/>
          </a:prstGeom>
          <a:solidFill>
            <a:srgbClr val="FFFFFF">
              <a:alpha val="541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2433764" y="3618941"/>
            <a:ext cx="28366" cy="28366"/>
          </a:xfrm>
          <a:prstGeom prst="ellipse">
            <a:avLst/>
          </a:prstGeom>
          <a:solidFill>
            <a:srgbClr val="FFFFFF">
              <a:alpha val="26418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56395" y="241241"/>
            <a:ext cx="30737" cy="30737"/>
          </a:xfrm>
          <a:prstGeom prst="ellipse">
            <a:avLst/>
          </a:prstGeom>
          <a:solidFill>
            <a:srgbClr val="FFFFFF">
              <a:alpha val="36985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831536" y="5074444"/>
            <a:ext cx="28063" cy="28063"/>
          </a:xfrm>
          <a:prstGeom prst="ellipse">
            <a:avLst/>
          </a:prstGeom>
          <a:solidFill>
            <a:srgbClr val="FFB627">
              <a:alpha val="39028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08670" y="5693716"/>
            <a:ext cx="23997" cy="23997"/>
          </a:xfrm>
          <a:prstGeom prst="ellipse">
            <a:avLst/>
          </a:prstGeom>
          <a:solidFill>
            <a:srgbClr val="FFFFFF">
              <a:alpha val="45401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874050" y="3898224"/>
            <a:ext cx="21010" cy="21010"/>
          </a:xfrm>
          <a:prstGeom prst="ellipse">
            <a:avLst/>
          </a:prstGeom>
          <a:solidFill>
            <a:srgbClr val="FFFFFF">
              <a:alpha val="43032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048148" y="2757135"/>
            <a:ext cx="34609" cy="34609"/>
          </a:xfrm>
          <a:prstGeom prst="ellipse">
            <a:avLst/>
          </a:prstGeom>
          <a:solidFill>
            <a:srgbClr val="FFFFFF">
              <a:alpha val="59037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36844" y="5085615"/>
            <a:ext cx="32889" cy="32889"/>
          </a:xfrm>
          <a:prstGeom prst="ellipse">
            <a:avLst/>
          </a:prstGeom>
          <a:solidFill>
            <a:srgbClr val="FFFFFF">
              <a:alpha val="28492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275114" y="2776831"/>
            <a:ext cx="25432" cy="25432"/>
          </a:xfrm>
          <a:prstGeom prst="ellipse">
            <a:avLst/>
          </a:prstGeom>
          <a:solidFill>
            <a:srgbClr val="FFFFFF">
              <a:alpha val="58883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547508" y="4995951"/>
            <a:ext cx="45526" cy="45526"/>
          </a:xfrm>
          <a:prstGeom prst="ellipse">
            <a:avLst/>
          </a:prstGeom>
          <a:solidFill>
            <a:srgbClr val="FFFFFF">
              <a:alpha val="41211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3393266" y="2366139"/>
            <a:ext cx="25705" cy="25705"/>
          </a:xfrm>
          <a:prstGeom prst="ellipse">
            <a:avLst/>
          </a:prstGeom>
          <a:solidFill>
            <a:srgbClr val="FFFFFF">
              <a:alpha val="42777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2796086" y="4306564"/>
            <a:ext cx="46671" cy="46671"/>
          </a:xfrm>
          <a:prstGeom prst="ellipse">
            <a:avLst/>
          </a:prstGeom>
          <a:solidFill>
            <a:srgbClr val="FFB627">
              <a:alpha val="4662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504596" y="5504392"/>
            <a:ext cx="31477" cy="31477"/>
          </a:xfrm>
          <a:prstGeom prst="ellipse">
            <a:avLst/>
          </a:prstGeom>
          <a:solidFill>
            <a:srgbClr val="FFFFFF">
              <a:alpha val="52632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629877" y="4964789"/>
            <a:ext cx="37116" cy="37116"/>
          </a:xfrm>
          <a:prstGeom prst="ellipse">
            <a:avLst/>
          </a:prstGeom>
          <a:solidFill>
            <a:srgbClr val="FFB627">
              <a:alpha val="5033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288906" y="2200922"/>
            <a:ext cx="23386" cy="23386"/>
          </a:xfrm>
          <a:prstGeom prst="ellipse">
            <a:avLst/>
          </a:prstGeom>
          <a:solidFill>
            <a:srgbClr val="FFB627">
              <a:alpha val="3832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09832" y="4853958"/>
            <a:ext cx="27132" cy="27132"/>
          </a:xfrm>
          <a:prstGeom prst="ellipse">
            <a:avLst/>
          </a:prstGeom>
          <a:solidFill>
            <a:srgbClr val="FFFFFF">
              <a:alpha val="55385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394960" y="822960"/>
            <a:ext cx="1371600" cy="13716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2140" y="1120140"/>
            <a:ext cx="777240" cy="777240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731520" y="25146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MISSION DATA ANALYSIS</a:t>
            </a:r>
            <a:endParaRPr lang="en-US" sz="4000" dirty="0"/>
          </a:p>
        </p:txBody>
      </p:sp>
      <p:sp>
        <p:nvSpPr>
          <p:cNvPr id="60" name="Shape 57"/>
          <p:cNvSpPr/>
          <p:nvPr/>
        </p:nvSpPr>
        <p:spPr>
          <a:xfrm>
            <a:off x="4709160" y="3794760"/>
            <a:ext cx="2743200" cy="27432"/>
          </a:xfrm>
          <a:prstGeom prst="rect">
            <a:avLst/>
          </a:prstGeom>
          <a:solidFill>
            <a:srgbClr val="3AC6EC"/>
          </a:solidFill>
          <a:ln/>
        </p:spPr>
      </p:sp>
      <p:sp>
        <p:nvSpPr>
          <p:cNvPr id="61" name="Text 58"/>
          <p:cNvSpPr/>
          <p:nvPr/>
        </p:nvSpPr>
        <p:spPr>
          <a:xfrm>
            <a:off x="914400" y="40690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C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V. Monika</a:t>
            </a:r>
            <a:endParaRPr lang="en-US" sz="2000" dirty="0"/>
          </a:p>
        </p:txBody>
      </p:sp>
      <p:sp>
        <p:nvSpPr>
          <p:cNvPr id="62" name="Text 59"/>
          <p:cNvSpPr/>
          <p:nvPr/>
        </p:nvSpPr>
        <p:spPr>
          <a:xfrm>
            <a:off x="914400" y="45262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AI &amp; Data Science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space mission data matters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1737360"/>
            <a:ext cx="685800" cy="68580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18882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64592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missions generate large amounts of data.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/>
        </p:spPr>
      </p:sp>
      <p:sp>
        <p:nvSpPr>
          <p:cNvPr id="9" name="Shape 6"/>
          <p:cNvSpPr/>
          <p:nvPr/>
        </p:nvSpPr>
        <p:spPr>
          <a:xfrm>
            <a:off x="1028700" y="2788920"/>
            <a:ext cx="685800" cy="68580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293979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65960" y="269748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space mission data using Python.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37490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/>
        </p:spPr>
      </p:sp>
      <p:sp>
        <p:nvSpPr>
          <p:cNvPr id="13" name="Shape 9"/>
          <p:cNvSpPr/>
          <p:nvPr/>
        </p:nvSpPr>
        <p:spPr>
          <a:xfrm>
            <a:off x="1028700" y="3840480"/>
            <a:ext cx="685800" cy="68580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399135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65960" y="374904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study mission details and launch success.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/>
        </p:spPr>
      </p:sp>
      <p:sp>
        <p:nvSpPr>
          <p:cNvPr id="17" name="Shape 12"/>
          <p:cNvSpPr/>
          <p:nvPr/>
        </p:nvSpPr>
        <p:spPr>
          <a:xfrm>
            <a:off x="1028700" y="4892040"/>
            <a:ext cx="685800" cy="68580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" y="504291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80060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is used to predict launch success.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150876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space mission data.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8" name="Shape 6"/>
          <p:cNvSpPr/>
          <p:nvPr/>
        </p:nvSpPr>
        <p:spPr>
          <a:xfrm>
            <a:off x="6537960" y="1737360"/>
            <a:ext cx="640080" cy="64008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60920" y="150876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patterns in mission information.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364992"/>
            <a:ext cx="640080" cy="64008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64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45920" y="313639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the data using graphs.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2999232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7960" y="3364992"/>
            <a:ext cx="640080" cy="64008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364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60920" y="313639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launch success using Machine Learning.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626864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992624"/>
            <a:ext cx="640080" cy="64008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9926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45920" y="4764024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factors affecting mission outcomes.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737360"/>
            <a:ext cx="1938528" cy="3017520"/>
          </a:xfrm>
          <a:prstGeom prst="roundRect">
            <a:avLst>
              <a:gd name="adj" fmla="val 4717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" y="2148840"/>
            <a:ext cx="1188720" cy="118872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2164" y="24003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5661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397764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898648" y="1737360"/>
            <a:ext cx="1938528" cy="3017520"/>
          </a:xfrm>
          <a:prstGeom prst="roundRect">
            <a:avLst>
              <a:gd name="adj" fmla="val 4717"/>
            </a:avLst>
          </a:prstGeom>
          <a:solidFill>
            <a:srgbClr val="16213E"/>
          </a:solidFill>
          <a:ln/>
        </p:spPr>
      </p:sp>
      <p:sp>
        <p:nvSpPr>
          <p:cNvPr id="9" name="Shape 6"/>
          <p:cNvSpPr/>
          <p:nvPr/>
        </p:nvSpPr>
        <p:spPr>
          <a:xfrm>
            <a:off x="3273552" y="2148840"/>
            <a:ext cx="1188720" cy="118872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012" y="240030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44368" y="35661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944368" y="397764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111496" y="1737360"/>
            <a:ext cx="1938528" cy="3017520"/>
          </a:xfrm>
          <a:prstGeom prst="roundRect">
            <a:avLst>
              <a:gd name="adj" fmla="val 4717"/>
            </a:avLst>
          </a:prstGeom>
          <a:solidFill>
            <a:srgbClr val="16213E"/>
          </a:solidFill>
          <a:ln/>
        </p:spPr>
      </p:sp>
      <p:sp>
        <p:nvSpPr>
          <p:cNvPr id="14" name="Shape 10"/>
          <p:cNvSpPr/>
          <p:nvPr/>
        </p:nvSpPr>
        <p:spPr>
          <a:xfrm>
            <a:off x="5486400" y="2148840"/>
            <a:ext cx="1188720" cy="118872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60" y="2400300"/>
            <a:ext cx="685800" cy="685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57216" y="35661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157216" y="397764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324344" y="1737360"/>
            <a:ext cx="1938528" cy="3017520"/>
          </a:xfrm>
          <a:prstGeom prst="roundRect">
            <a:avLst>
              <a:gd name="adj" fmla="val 4717"/>
            </a:avLst>
          </a:prstGeom>
          <a:solidFill>
            <a:srgbClr val="16213E"/>
          </a:solidFill>
          <a:ln/>
        </p:spPr>
      </p:sp>
      <p:sp>
        <p:nvSpPr>
          <p:cNvPr id="19" name="Shape 14"/>
          <p:cNvSpPr/>
          <p:nvPr/>
        </p:nvSpPr>
        <p:spPr>
          <a:xfrm>
            <a:off x="7699248" y="2148840"/>
            <a:ext cx="1188720" cy="118872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708" y="2400300"/>
            <a:ext cx="685800" cy="6858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70064" y="35661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370064" y="397764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viz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9537192" y="1737360"/>
            <a:ext cx="1938528" cy="3017520"/>
          </a:xfrm>
          <a:prstGeom prst="roundRect">
            <a:avLst>
              <a:gd name="adj" fmla="val 4717"/>
            </a:avLst>
          </a:prstGeom>
          <a:solidFill>
            <a:srgbClr val="16213E"/>
          </a:solidFill>
          <a:ln/>
        </p:spPr>
      </p:sp>
      <p:sp>
        <p:nvSpPr>
          <p:cNvPr id="24" name="Shape 18"/>
          <p:cNvSpPr/>
          <p:nvPr/>
        </p:nvSpPr>
        <p:spPr>
          <a:xfrm>
            <a:off x="9912096" y="2148840"/>
            <a:ext cx="1188720" cy="118872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3556" y="2400300"/>
            <a:ext cx="685800" cy="6858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582912" y="35661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9582912" y="397764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real missions (2018-2024) across 4 countries and 5 space agencies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4663440"/>
          </a:xfrm>
          <a:prstGeom prst="roundRect">
            <a:avLst>
              <a:gd name="adj" fmla="val 2564"/>
            </a:avLst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891540" y="1623060"/>
            <a:ext cx="777240" cy="77724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80136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691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14400" y="2615184"/>
            <a:ext cx="109728" cy="109728"/>
          </a:xfrm>
          <a:prstGeom prst="ellipse">
            <a:avLst/>
          </a:prstGeom>
          <a:solidFill>
            <a:srgbClr val="3AC6EC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514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14400" y="3072384"/>
            <a:ext cx="109728" cy="109728"/>
          </a:xfrm>
          <a:prstGeom prst="ellipse">
            <a:avLst/>
          </a:prstGeom>
          <a:solidFill>
            <a:srgbClr val="3AC6EC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29718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14400" y="3529584"/>
            <a:ext cx="109728" cy="109728"/>
          </a:xfrm>
          <a:prstGeom prst="ellipse">
            <a:avLst/>
          </a:prstGeom>
          <a:solidFill>
            <a:srgbClr val="3AC6EC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34290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14400" y="3986784"/>
            <a:ext cx="109728" cy="109728"/>
          </a:xfrm>
          <a:prstGeom prst="ellipse">
            <a:avLst/>
          </a:prstGeom>
          <a:solidFill>
            <a:srgbClr val="3AC6EC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38862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Mission_Name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14400" y="4443984"/>
            <a:ext cx="109728" cy="109728"/>
          </a:xfrm>
          <a:prstGeom prst="ellipse">
            <a:avLst/>
          </a:prstGeom>
          <a:solidFill>
            <a:srgbClr val="3AC6EC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4343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Payload_kg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14400" y="4901184"/>
            <a:ext cx="109728" cy="109728"/>
          </a:xfrm>
          <a:prstGeom prst="ellipse">
            <a:avLst/>
          </a:prstGeom>
          <a:solidFill>
            <a:srgbClr val="3AC6EC"/>
          </a:solidFill>
          <a:ln/>
        </p:spPr>
      </p:sp>
      <p:sp>
        <p:nvSpPr>
          <p:cNvPr id="19" name="Text 16"/>
          <p:cNvSpPr/>
          <p:nvPr/>
        </p:nvSpPr>
        <p:spPr>
          <a:xfrm>
            <a:off x="1143000" y="4800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Mission_Type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914400" y="5358384"/>
            <a:ext cx="109728" cy="109728"/>
          </a:xfrm>
          <a:prstGeom prst="ellipse">
            <a:avLst/>
          </a:prstGeom>
          <a:solidFill>
            <a:srgbClr val="3AC6EC"/>
          </a:solidFill>
          <a:ln/>
        </p:spPr>
      </p:sp>
      <p:sp>
        <p:nvSpPr>
          <p:cNvPr id="21" name="Text 18"/>
          <p:cNvSpPr/>
          <p:nvPr/>
        </p:nvSpPr>
        <p:spPr>
          <a:xfrm>
            <a:off x="1143000" y="52578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297680" y="1417320"/>
            <a:ext cx="7315200" cy="4663440"/>
          </a:xfrm>
          <a:prstGeom prst="roundRect">
            <a:avLst>
              <a:gd name="adj" fmla="val 1961"/>
            </a:avLst>
          </a:prstGeom>
          <a:solidFill>
            <a:srgbClr val="16213E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0" y="16002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 records (script output)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148840"/>
          <a:ext cx="6766560" cy="3566160"/>
        </p:xfrm>
        <a:graphic>
          <a:graphicData uri="http://schemas.openxmlformats.org/drawingml/2006/table">
            <a:tbl>
              <a:tblPr/>
              <a:tblGrid>
                <a:gridCol w="640080"/>
                <a:gridCol w="868680"/>
                <a:gridCol w="914400"/>
                <a:gridCol w="1417320"/>
                <a:gridCol w="914400"/>
                <a:gridCol w="1097280"/>
                <a:gridCol w="91440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C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C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C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C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C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C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C6E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GSLV Mission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Mars Mission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B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Roscosmos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Soyuz Mission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Chandrayaan-2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B6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B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Starlink-1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2103120"/>
          </a:xfrm>
          <a:prstGeom prst="roundRect">
            <a:avLst>
              <a:gd name="adj" fmla="val 3913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3AC6E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dataset.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474720" cy="2103120"/>
          </a:xfrm>
          <a:prstGeom prst="roundRect">
            <a:avLst>
              <a:gd name="adj" fmla="val 3913"/>
            </a:avLst>
          </a:prstGeom>
          <a:solidFill>
            <a:srgbClr val="16213E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1691640"/>
            <a:ext cx="502920" cy="5029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0" y="2331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 and load it with Pandas.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1463040"/>
            <a:ext cx="3474720" cy="2103120"/>
          </a:xfrm>
          <a:prstGeom prst="roundRect">
            <a:avLst>
              <a:gd name="adj" fmla="val 3913"/>
            </a:avLst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8366760" y="1691640"/>
            <a:ext cx="502920" cy="502920"/>
          </a:xfrm>
          <a:prstGeom prst="ellipse">
            <a:avLst/>
          </a:prstGeom>
          <a:solidFill>
            <a:srgbClr val="3AC6EC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66760" y="2331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missing values and duplicates.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3474720" cy="2103120"/>
          </a:xfrm>
          <a:prstGeom prst="roundRect">
            <a:avLst>
              <a:gd name="adj" fmla="val 3913"/>
            </a:avLst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4754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 columns using LabelEncoder.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43400" y="3886200"/>
            <a:ext cx="3474720" cy="2103120"/>
          </a:xfrm>
          <a:prstGeom prst="roundRect">
            <a:avLst>
              <a:gd name="adj" fmla="val 3913"/>
            </a:avLst>
          </a:prstGeom>
          <a:solidFill>
            <a:srgbClr val="16213E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0" y="4114800"/>
            <a:ext cx="502920" cy="502920"/>
          </a:xfrm>
          <a:prstGeom prst="ellipse">
            <a:avLst/>
          </a:prstGeom>
          <a:solidFill>
            <a:srgbClr val="3AC6E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0" y="4754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important features.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38160" y="3886200"/>
            <a:ext cx="3474720" cy="2103120"/>
          </a:xfrm>
          <a:prstGeom prst="roundRect">
            <a:avLst>
              <a:gd name="adj" fmla="val 3913"/>
            </a:avLst>
          </a:prstGeom>
          <a:solidFill>
            <a:srgbClr val="16213E"/>
          </a:solidFill>
          <a:ln/>
        </p:spPr>
      </p:sp>
      <p:sp>
        <p:nvSpPr>
          <p:cNvPr id="24" name="Shape 22"/>
          <p:cNvSpPr/>
          <p:nvPr/>
        </p:nvSpPr>
        <p:spPr>
          <a:xfrm>
            <a:off x="8366760" y="4114800"/>
            <a:ext cx="502920" cy="5029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366760" y="4754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into training and testing sets.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output from the Python script (matplotlib)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554480"/>
            <a:ext cx="1069848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297680" cy="4572000"/>
          </a:xfrm>
          <a:prstGeom prst="roundRect">
            <a:avLst>
              <a:gd name="adj" fmla="val 2128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1783080" y="2057400"/>
            <a:ext cx="1828800" cy="182880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0" y="2446020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114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Algorithm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46634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many decision trees into one strong model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120640" y="1417320"/>
            <a:ext cx="6492240" cy="9144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/>
        </p:spPr>
      </p:sp>
      <p:sp>
        <p:nvSpPr>
          <p:cNvPr id="9" name="Shape 6"/>
          <p:cNvSpPr/>
          <p:nvPr/>
        </p:nvSpPr>
        <p:spPr>
          <a:xfrm>
            <a:off x="5532120" y="1554480"/>
            <a:ext cx="640080" cy="64008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916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0" y="14173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Random Forest Classifier (100 trees).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120640" y="2514600"/>
            <a:ext cx="6492240" cy="9144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/>
        </p:spPr>
      </p:sp>
      <p:sp>
        <p:nvSpPr>
          <p:cNvPr id="13" name="Shape 9"/>
          <p:cNvSpPr/>
          <p:nvPr/>
        </p:nvSpPr>
        <p:spPr>
          <a:xfrm>
            <a:off x="5532120" y="2651760"/>
            <a:ext cx="640080" cy="64008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7889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0" y="2514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Year, Country, Organization, Payload, Mission Type.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120640" y="3611880"/>
            <a:ext cx="6492240" cy="9144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/>
        </p:spPr>
      </p:sp>
      <p:sp>
        <p:nvSpPr>
          <p:cNvPr id="17" name="Shape 12"/>
          <p:cNvSpPr/>
          <p:nvPr/>
        </p:nvSpPr>
        <p:spPr>
          <a:xfrm>
            <a:off x="5532120" y="3749040"/>
            <a:ext cx="640080" cy="64008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38862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0800" y="36118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learns patterns from 16 training missions.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120640" y="4709160"/>
            <a:ext cx="6492240" cy="9144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/>
        </p:spPr>
      </p:sp>
      <p:sp>
        <p:nvSpPr>
          <p:cNvPr id="21" name="Shape 15"/>
          <p:cNvSpPr/>
          <p:nvPr/>
        </p:nvSpPr>
        <p:spPr>
          <a:xfrm>
            <a:off x="5532120" y="4846320"/>
            <a:ext cx="640080" cy="64008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498348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0" y="47091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 predicts the outcome for the 4 test missions.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08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C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Success Rate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41732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4343400" y="1508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343400" y="22860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41732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1508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C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38160" y="22860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Active Country (7)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64240" cy="795528"/>
          </a:xfrm>
          <a:prstGeom prst="roundRect">
            <a:avLst>
              <a:gd name="adj" fmla="val 9195"/>
            </a:avLst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960120" y="3369564"/>
            <a:ext cx="548640" cy="54864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3488436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91640" y="3246120"/>
            <a:ext cx="9692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20 missions, 17 succeeded and 3 failed (85% success rate).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206240"/>
            <a:ext cx="11064240" cy="795528"/>
          </a:xfrm>
          <a:prstGeom prst="roundRect">
            <a:avLst>
              <a:gd name="adj" fmla="val 9195"/>
            </a:avLst>
          </a:prstGeom>
          <a:solidFill>
            <a:srgbClr val="16213E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4329684"/>
            <a:ext cx="548640" cy="54864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4448556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691640" y="4206240"/>
            <a:ext cx="9692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score evaluates how well the Random Forest model performs.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48640" y="5166360"/>
            <a:ext cx="11064240" cy="795528"/>
          </a:xfrm>
          <a:prstGeom prst="roundRect">
            <a:avLst>
              <a:gd name="adj" fmla="val 9195"/>
            </a:avLst>
          </a:prstGeom>
          <a:solidFill>
            <a:srgbClr val="16213E"/>
          </a:solidFill>
          <a:ln/>
        </p:spPr>
      </p:sp>
      <p:sp>
        <p:nvSpPr>
          <p:cNvPr id="21" name="Shape 17"/>
          <p:cNvSpPr/>
          <p:nvPr/>
        </p:nvSpPr>
        <p:spPr>
          <a:xfrm>
            <a:off x="960120" y="5289804"/>
            <a:ext cx="548640" cy="54864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5408676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691640" y="5166360"/>
            <a:ext cx="9692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is the most active organization with 7 missions.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548640" y="6217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with only 20 missions and 3 failures, the 100% test accuracy reflects a very small, imbalanced sample — not a production-ready model.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1081" y="1807251"/>
            <a:ext cx="26381" cy="26381"/>
          </a:xfrm>
          <a:prstGeom prst="ellipse">
            <a:avLst/>
          </a:prstGeom>
          <a:solidFill>
            <a:srgbClr val="FFFFFF">
              <a:alpha val="3582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770300" y="3329634"/>
            <a:ext cx="48656" cy="48656"/>
          </a:xfrm>
          <a:prstGeom prst="ellipse">
            <a:avLst/>
          </a:prstGeom>
          <a:solidFill>
            <a:srgbClr val="FFFFFF">
              <a:alpha val="54441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30656" y="6839920"/>
            <a:ext cx="40401" cy="40401"/>
          </a:xfrm>
          <a:prstGeom prst="ellipse">
            <a:avLst/>
          </a:prstGeom>
          <a:solidFill>
            <a:srgbClr val="FFFFFF">
              <a:alpha val="49624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62670" y="6009275"/>
            <a:ext cx="23050" cy="23050"/>
          </a:xfrm>
          <a:prstGeom prst="ellipse">
            <a:avLst/>
          </a:prstGeom>
          <a:solidFill>
            <a:srgbClr val="FFB627">
              <a:alpha val="38119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808999" y="4160867"/>
            <a:ext cx="27520" cy="27520"/>
          </a:xfrm>
          <a:prstGeom prst="ellipse">
            <a:avLst/>
          </a:prstGeom>
          <a:solidFill>
            <a:srgbClr val="FFFFFF">
              <a:alpha val="3407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438830" y="1315861"/>
            <a:ext cx="44428" cy="44428"/>
          </a:xfrm>
          <a:prstGeom prst="ellipse">
            <a:avLst/>
          </a:prstGeom>
          <a:solidFill>
            <a:srgbClr val="FFFFFF">
              <a:alpha val="4516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60607" y="6385425"/>
            <a:ext cx="27645" cy="27645"/>
          </a:xfrm>
          <a:prstGeom prst="ellipse">
            <a:avLst/>
          </a:prstGeom>
          <a:solidFill>
            <a:srgbClr val="FFFFFF">
              <a:alpha val="45354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604186" y="5928725"/>
            <a:ext cx="47203" cy="47203"/>
          </a:xfrm>
          <a:prstGeom prst="ellipse">
            <a:avLst/>
          </a:prstGeom>
          <a:solidFill>
            <a:srgbClr val="FFFFFF">
              <a:alpha val="29348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764353" y="6062927"/>
            <a:ext cx="47492" cy="47492"/>
          </a:xfrm>
          <a:prstGeom prst="ellipse">
            <a:avLst/>
          </a:prstGeom>
          <a:solidFill>
            <a:srgbClr val="FFFFFF">
              <a:alpha val="4370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759873" y="3507199"/>
            <a:ext cx="42834" cy="42834"/>
          </a:xfrm>
          <a:prstGeom prst="ellipse">
            <a:avLst/>
          </a:prstGeom>
          <a:solidFill>
            <a:srgbClr val="FFFFFF">
              <a:alpha val="54615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492361" y="2346707"/>
            <a:ext cx="46366" cy="46366"/>
          </a:xfrm>
          <a:prstGeom prst="ellipse">
            <a:avLst/>
          </a:prstGeom>
          <a:solidFill>
            <a:srgbClr val="FFFFFF">
              <a:alpha val="37339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97645" y="1078618"/>
            <a:ext cx="20256" cy="20256"/>
          </a:xfrm>
          <a:prstGeom prst="ellipse">
            <a:avLst/>
          </a:prstGeom>
          <a:solidFill>
            <a:srgbClr val="FFFFFF">
              <a:alpha val="4232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2408" y="4804098"/>
            <a:ext cx="39280" cy="39280"/>
          </a:xfrm>
          <a:prstGeom prst="ellipse">
            <a:avLst/>
          </a:prstGeom>
          <a:solidFill>
            <a:srgbClr val="FFB627">
              <a:alpha val="27985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5465" y="844315"/>
            <a:ext cx="27674" cy="27674"/>
          </a:xfrm>
          <a:prstGeom prst="ellipse">
            <a:avLst/>
          </a:prstGeom>
          <a:solidFill>
            <a:srgbClr val="FFFFFF">
              <a:alpha val="55134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75205" y="650434"/>
            <a:ext cx="29395" cy="29395"/>
          </a:xfrm>
          <a:prstGeom prst="ellipse">
            <a:avLst/>
          </a:prstGeom>
          <a:solidFill>
            <a:srgbClr val="FFFFFF">
              <a:alpha val="38111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993190" y="3989623"/>
            <a:ext cx="19650" cy="19650"/>
          </a:xfrm>
          <a:prstGeom prst="ellipse">
            <a:avLst/>
          </a:prstGeom>
          <a:solidFill>
            <a:srgbClr val="FFFFFF">
              <a:alpha val="32547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278477" y="1993047"/>
            <a:ext cx="25800" cy="25800"/>
          </a:xfrm>
          <a:prstGeom prst="ellipse">
            <a:avLst/>
          </a:prstGeom>
          <a:solidFill>
            <a:srgbClr val="FFFFFF">
              <a:alpha val="4481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248973" y="5349875"/>
            <a:ext cx="45572" cy="45572"/>
          </a:xfrm>
          <a:prstGeom prst="ellipse">
            <a:avLst/>
          </a:prstGeom>
          <a:solidFill>
            <a:srgbClr val="FFFFFF">
              <a:alpha val="28143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681" y="1635272"/>
            <a:ext cx="18615" cy="18615"/>
          </a:xfrm>
          <a:prstGeom prst="ellipse">
            <a:avLst/>
          </a:prstGeom>
          <a:solidFill>
            <a:srgbClr val="FFFFFF">
              <a:alpha val="30384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041817" y="6364405"/>
            <a:ext cx="43409" cy="43409"/>
          </a:xfrm>
          <a:prstGeom prst="ellipse">
            <a:avLst/>
          </a:prstGeom>
          <a:solidFill>
            <a:srgbClr val="FFFFFF">
              <a:alpha val="38467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732409" y="2032441"/>
            <a:ext cx="39450" cy="39450"/>
          </a:xfrm>
          <a:prstGeom prst="ellipse">
            <a:avLst/>
          </a:prstGeom>
          <a:solidFill>
            <a:srgbClr val="FFFFFF">
              <a:alpha val="44507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870300" y="5170546"/>
            <a:ext cx="38842" cy="38842"/>
          </a:xfrm>
          <a:prstGeom prst="ellipse">
            <a:avLst/>
          </a:prstGeom>
          <a:solidFill>
            <a:srgbClr val="FFFFFF">
              <a:alpha val="5358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790466" y="813888"/>
            <a:ext cx="19161" cy="19161"/>
          </a:xfrm>
          <a:prstGeom prst="ellipse">
            <a:avLst/>
          </a:prstGeom>
          <a:solidFill>
            <a:srgbClr val="FFB627">
              <a:alpha val="33171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38974" y="4985632"/>
            <a:ext cx="45700" cy="45700"/>
          </a:xfrm>
          <a:prstGeom prst="ellipse">
            <a:avLst/>
          </a:prstGeom>
          <a:solidFill>
            <a:srgbClr val="FFFFFF">
              <a:alpha val="49284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793548" y="1450946"/>
            <a:ext cx="18989" cy="18989"/>
          </a:xfrm>
          <a:prstGeom prst="ellipse">
            <a:avLst/>
          </a:prstGeom>
          <a:solidFill>
            <a:srgbClr val="FFFFFF">
              <a:alpha val="29218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537883" y="6486995"/>
            <a:ext cx="19731" cy="19731"/>
          </a:xfrm>
          <a:prstGeom prst="ellipse">
            <a:avLst/>
          </a:prstGeom>
          <a:solidFill>
            <a:srgbClr val="FFFFFF">
              <a:alpha val="26013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520607" y="1064948"/>
            <a:ext cx="34984" cy="34984"/>
          </a:xfrm>
          <a:prstGeom prst="ellipse">
            <a:avLst/>
          </a:prstGeom>
          <a:solidFill>
            <a:srgbClr val="FFFFFF">
              <a:alpha val="3956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75844" y="4763970"/>
            <a:ext cx="25733" cy="25733"/>
          </a:xfrm>
          <a:prstGeom prst="ellipse">
            <a:avLst/>
          </a:prstGeom>
          <a:solidFill>
            <a:srgbClr val="FFB627">
              <a:alpha val="59382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297528" y="3381228"/>
            <a:ext cx="47786" cy="47786"/>
          </a:xfrm>
          <a:prstGeom prst="ellipse">
            <a:avLst/>
          </a:prstGeom>
          <a:solidFill>
            <a:srgbClr val="FFB627">
              <a:alpha val="49074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013808" y="4557889"/>
            <a:ext cx="41975" cy="41975"/>
          </a:xfrm>
          <a:prstGeom prst="ellipse">
            <a:avLst/>
          </a:prstGeom>
          <a:solidFill>
            <a:srgbClr val="FFFFFF">
              <a:alpha val="4741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353688" y="1965119"/>
            <a:ext cx="29736" cy="29736"/>
          </a:xfrm>
          <a:prstGeom prst="ellipse">
            <a:avLst/>
          </a:prstGeom>
          <a:solidFill>
            <a:srgbClr val="FFFFFF">
              <a:alpha val="36154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21341" y="5784086"/>
            <a:ext cx="41985" cy="41985"/>
          </a:xfrm>
          <a:prstGeom prst="ellipse">
            <a:avLst/>
          </a:prstGeom>
          <a:solidFill>
            <a:srgbClr val="FFB627">
              <a:alpha val="29438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708998" y="2319955"/>
            <a:ext cx="37335" cy="37335"/>
          </a:xfrm>
          <a:prstGeom prst="ellipse">
            <a:avLst/>
          </a:prstGeom>
          <a:solidFill>
            <a:srgbClr val="FFFFFF">
              <a:alpha val="34937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179020" y="483894"/>
            <a:ext cx="33664" cy="33664"/>
          </a:xfrm>
          <a:prstGeom prst="ellipse">
            <a:avLst/>
          </a:prstGeom>
          <a:solidFill>
            <a:srgbClr val="FFFFFF">
              <a:alpha val="26619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84303" y="551068"/>
            <a:ext cx="36998" cy="36998"/>
          </a:xfrm>
          <a:prstGeom prst="ellipse">
            <a:avLst/>
          </a:prstGeom>
          <a:solidFill>
            <a:srgbClr val="FFFFFF">
              <a:alpha val="34189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619636" y="1780646"/>
            <a:ext cx="23730" cy="23730"/>
          </a:xfrm>
          <a:prstGeom prst="ellipse">
            <a:avLst/>
          </a:prstGeom>
          <a:solidFill>
            <a:srgbClr val="FFFFFF">
              <a:alpha val="3420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665301" y="891793"/>
            <a:ext cx="40185" cy="40185"/>
          </a:xfrm>
          <a:prstGeom prst="ellipse">
            <a:avLst/>
          </a:prstGeom>
          <a:solidFill>
            <a:srgbClr val="FFFFFF">
              <a:alpha val="27859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299874" y="1969676"/>
            <a:ext cx="35494" cy="35494"/>
          </a:xfrm>
          <a:prstGeom prst="ellipse">
            <a:avLst/>
          </a:prstGeom>
          <a:solidFill>
            <a:srgbClr val="FFFFFF">
              <a:alpha val="25409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920703" y="3511462"/>
            <a:ext cx="35832" cy="35832"/>
          </a:xfrm>
          <a:prstGeom prst="ellipse">
            <a:avLst/>
          </a:prstGeom>
          <a:solidFill>
            <a:srgbClr val="FFB627">
              <a:alpha val="4230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664471" y="3760317"/>
            <a:ext cx="19963" cy="19963"/>
          </a:xfrm>
          <a:prstGeom prst="ellipse">
            <a:avLst/>
          </a:prstGeom>
          <a:solidFill>
            <a:srgbClr val="FFB627">
              <a:alpha val="36958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3" name="Shape 41"/>
          <p:cNvSpPr/>
          <p:nvPr/>
        </p:nvSpPr>
        <p:spPr>
          <a:xfrm>
            <a:off x="640080" y="1517904"/>
            <a:ext cx="146304" cy="14630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44" name="Text 42"/>
          <p:cNvSpPr/>
          <p:nvPr/>
        </p:nvSpPr>
        <p:spPr>
          <a:xfrm>
            <a:off x="960120" y="13716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mission data can be analyzed effectively using Python.</a:t>
            </a:r>
            <a:endParaRPr lang="en-US" sz="1550" dirty="0"/>
          </a:p>
        </p:txBody>
      </p:sp>
      <p:sp>
        <p:nvSpPr>
          <p:cNvPr id="45" name="Shape 43"/>
          <p:cNvSpPr/>
          <p:nvPr/>
        </p:nvSpPr>
        <p:spPr>
          <a:xfrm>
            <a:off x="640080" y="2139696"/>
            <a:ext cx="146304" cy="14630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46" name="Text 44"/>
          <p:cNvSpPr/>
          <p:nvPr/>
        </p:nvSpPr>
        <p:spPr>
          <a:xfrm>
            <a:off x="960120" y="199339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helps in data processing.</a:t>
            </a:r>
            <a:endParaRPr lang="en-US" sz="1550" dirty="0"/>
          </a:p>
        </p:txBody>
      </p:sp>
      <p:sp>
        <p:nvSpPr>
          <p:cNvPr id="47" name="Shape 45"/>
          <p:cNvSpPr/>
          <p:nvPr/>
        </p:nvSpPr>
        <p:spPr>
          <a:xfrm>
            <a:off x="640080" y="2761488"/>
            <a:ext cx="146304" cy="14630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48" name="Text 46"/>
          <p:cNvSpPr/>
          <p:nvPr/>
        </p:nvSpPr>
        <p:spPr>
          <a:xfrm>
            <a:off x="960120" y="2615184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and Seaborn help in visualization.</a:t>
            </a:r>
            <a:endParaRPr lang="en-US" sz="1550" dirty="0"/>
          </a:p>
        </p:txBody>
      </p:sp>
      <p:sp>
        <p:nvSpPr>
          <p:cNvPr id="49" name="Shape 47"/>
          <p:cNvSpPr/>
          <p:nvPr/>
        </p:nvSpPr>
        <p:spPr>
          <a:xfrm>
            <a:off x="640080" y="3383280"/>
            <a:ext cx="146304" cy="14630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50" name="Text 48"/>
          <p:cNvSpPr/>
          <p:nvPr/>
        </p:nvSpPr>
        <p:spPr>
          <a:xfrm>
            <a:off x="960120" y="3236976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helps in predicting launch success.</a:t>
            </a:r>
            <a:endParaRPr lang="en-US" sz="1550" dirty="0"/>
          </a:p>
        </p:txBody>
      </p:sp>
      <p:sp>
        <p:nvSpPr>
          <p:cNvPr id="51" name="Shape 49"/>
          <p:cNvSpPr/>
          <p:nvPr/>
        </p:nvSpPr>
        <p:spPr>
          <a:xfrm>
            <a:off x="640080" y="4005072"/>
            <a:ext cx="146304" cy="14630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52" name="Text 50"/>
          <p:cNvSpPr/>
          <p:nvPr/>
        </p:nvSpPr>
        <p:spPr>
          <a:xfrm>
            <a:off x="960120" y="3858768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gives a basic understanding of Data Analysis + Machine Learning.</a:t>
            </a:r>
            <a:endParaRPr lang="en-US" sz="1550" dirty="0"/>
          </a:p>
        </p:txBody>
      </p:sp>
      <p:sp>
        <p:nvSpPr>
          <p:cNvPr id="53" name="Shape 51"/>
          <p:cNvSpPr/>
          <p:nvPr/>
        </p:nvSpPr>
        <p:spPr>
          <a:xfrm>
            <a:off x="5600700" y="5326380"/>
            <a:ext cx="960120" cy="96012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5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5532120"/>
            <a:ext cx="548640" cy="548640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3337560" y="6263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C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2026-09-10T08:15:41Z</dcterms:created>
  <dcterms:modified xsi:type="dcterms:W3CDTF">2026-09-10T08:15:41Z</dcterms:modified>
</cp:coreProperties>
</file>